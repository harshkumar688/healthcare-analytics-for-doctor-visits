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handoutMasterIdLst>
    <p:handoutMasterId r:id="rId16"/>
  </p:handoutMasterIdLst>
  <p:sldIdLst>
    <p:sldId id="338" r:id="rId3"/>
    <p:sldId id="327" r:id="rId4"/>
    <p:sldId id="315" r:id="rId5"/>
    <p:sldId id="329" r:id="rId6"/>
    <p:sldId id="302" r:id="rId7"/>
    <p:sldId id="339" r:id="rId9"/>
    <p:sldId id="304" r:id="rId10"/>
    <p:sldId id="342" r:id="rId11"/>
    <p:sldId id="344" r:id="rId12"/>
    <p:sldId id="345" r:id="rId13"/>
    <p:sldId id="346" r:id="rId14"/>
    <p:sldId id="34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26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6E25E649-3F16-4E02-A733-19D2CDBF48F0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 showGuides="1">
      <p:cViewPr varScale="1">
        <p:scale>
          <a:sx n="69" d="100"/>
          <a:sy n="69" d="100"/>
        </p:scale>
        <p:origin x="484" y="44"/>
      </p:cViewPr>
      <p:guideLst>
        <p:guide orient="horz" pos="1968"/>
        <p:guide pos="426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customXml" Target="../customXml/item3.xml"/><Relationship Id="rId21" Type="http://schemas.openxmlformats.org/officeDocument/2006/relationships/customXml" Target="../customXml/item2.xml"/><Relationship Id="rId20" Type="http://schemas.openxmlformats.org/officeDocument/2006/relationships/customXml" Target="../customXml/item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</p:txBody>
      </p:sp>
      <p:sp>
        <p:nvSpPr>
          <p:cNvPr id="15" name="Hexagon 14"/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/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/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/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/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/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/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/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/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/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/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/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/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/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/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22"/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ext Placeholder 22"/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1" name="Text Placeholder 22"/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2" name="Text Placeholder 22"/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7" name="Picture Placeholder 36"/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/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8" name="Date Placeholder 3"/>
          <p:cNvSpPr txBox="1"/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/>
          <p:cNvSpPr txBox="1"/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  <a:endParaRPr lang="en-US" sz="1100" b="1" dirty="0">
              <a:solidFill>
                <a:schemeClr val="accent2"/>
              </a:solidFill>
            </a:endParaRPr>
          </a:p>
        </p:txBody>
      </p:sp>
      <p:sp>
        <p:nvSpPr>
          <p:cNvPr id="30" name="Slide Number Placeholder 5"/>
          <p:cNvSpPr txBox="1"/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6.png"/><Relationship Id="rId2" Type="http://schemas.openxmlformats.org/officeDocument/2006/relationships/hyperlink" Target="abc" TargetMode="Externa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"/>
          <p:cNvSpPr txBox="1"/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640205" y="2662555"/>
            <a:ext cx="9005570" cy="19818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3000" b="1">
                <a:solidFill>
                  <a:srgbClr val="FF0000"/>
                </a:solidFill>
              </a:rPr>
              <a:t>HEALTHCARE ANALYTICS FOR DOCTOR VISITS</a:t>
            </a:r>
            <a:endParaRPr sz="3000" b="1">
              <a:solidFill>
                <a:srgbClr val="FF0000"/>
              </a:solidFill>
            </a:endParaRPr>
          </a:p>
          <a:p>
            <a:r>
              <a:rPr sz="2400"/>
              <a:t>Presented by: </a:t>
            </a:r>
            <a:r>
              <a:rPr sz="2400" b="1" u="sng"/>
              <a:t>Harsh Kumar</a:t>
            </a:r>
            <a:endParaRPr sz="2400" b="1" u="sng"/>
          </a:p>
          <a:p>
            <a:r>
              <a:rPr sz="2400"/>
              <a:t>Department: </a:t>
            </a:r>
            <a:r>
              <a:rPr sz="2400" u="sng"/>
              <a:t>Computer Science and Engineering – Data Science</a:t>
            </a:r>
            <a:endParaRPr sz="2400" u="sng"/>
          </a:p>
          <a:p>
            <a:r>
              <a:rPr sz="2400"/>
              <a:t>Institution: </a:t>
            </a:r>
            <a:r>
              <a:rPr sz="2400" u="sng"/>
              <a:t>MLR Institute of Technology</a:t>
            </a:r>
            <a:endParaRPr sz="2400" u="sn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875030" y="1340251"/>
            <a:ext cx="6431280" cy="360798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Healthcare utilization varies across individuals based on demographic characteristics, health conditions, and access to healthcare services.</a:t>
            </a:r>
            <a:endParaRPr lang="en-US" alt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Understanding these factors is essential for identifying patterns in doctor visits and exploring differences in healthcare utilization across population groups.</a:t>
            </a:r>
            <a:endParaRPr lang="en-US" alt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This project analyzes healthcare-related data to investigate the relationship between patient characteristics and doctor-visit frequency using data analytics and statistical techniques.</a:t>
            </a:r>
            <a:endParaRPr lang="en-US" alt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60400" y="313055"/>
            <a:ext cx="8769350" cy="831215"/>
          </a:xfrm>
        </p:spPr>
        <p:txBody>
          <a:bodyPr>
            <a:normAutofit fontScale="90000"/>
          </a:bodyPr>
          <a:lstStyle/>
          <a:p>
            <a:r>
              <a:rPr lang="en-GB" sz="5300" dirty="0" smtClean="0">
                <a:solidFill>
                  <a:srgbClr val="FF0000"/>
                </a:solidFill>
              </a:rPr>
              <a:t>Project Description</a:t>
            </a:r>
            <a:br>
              <a:rPr lang="en-GB" dirty="0" smtClean="0"/>
            </a:br>
            <a:r>
              <a:rPr lang="en-US" altLang="en-US" sz="1780" dirty="0" smtClean="0"/>
              <a:t>The Healthcare Analytics for Doctor Visits project focuses on exploring patterns in doctor-visit frequency using a structured healthcare dataset.</a:t>
            </a:r>
            <a:br>
              <a:rPr lang="en-US" altLang="en-US" sz="1780" dirty="0" smtClean="0"/>
            </a:br>
            <a:br>
              <a:rPr lang="en-US" altLang="en-US" sz="1780" dirty="0" smtClean="0"/>
            </a:br>
            <a:r>
              <a:rPr lang="en-US" altLang="en-US" sz="1780" dirty="0" smtClean="0"/>
              <a:t>The analysis examines demographic variables such as age, gender, and income, along with health-related factors, illness levels, reduced activity, chronic conditions, and healthcare coverage.</a:t>
            </a:r>
            <a:br>
              <a:rPr lang="en-US" altLang="en-US" sz="1780" dirty="0" smtClean="0"/>
            </a:br>
            <a:br>
              <a:rPr lang="en-US" altLang="en-US" sz="1780" dirty="0" smtClean="0"/>
            </a:br>
            <a:r>
              <a:rPr lang="en-US" altLang="en-US" sz="1780" dirty="0" smtClean="0"/>
              <a:t>The project follows a structured analytics workflow:</a:t>
            </a:r>
            <a:br>
              <a:rPr lang="en-US" altLang="en-US" sz="1780" dirty="0" smtClean="0"/>
            </a:br>
            <a:br>
              <a:rPr lang="en-US" altLang="en-US" sz="1780" dirty="0" smtClean="0"/>
            </a:br>
            <a:r>
              <a:rPr lang="en-US" altLang="en-US" sz="1780" dirty="0" smtClean="0"/>
              <a:t>- Data loading and initial inspection</a:t>
            </a:r>
            <a:br>
              <a:rPr lang="en-US" altLang="en-US" sz="1780" dirty="0" smtClean="0"/>
            </a:br>
            <a:r>
              <a:rPr lang="en-US" altLang="en-US" sz="1780" dirty="0" smtClean="0"/>
              <a:t>- Data quality assessment and preprocessing</a:t>
            </a:r>
            <a:br>
              <a:rPr lang="en-US" altLang="en-US" sz="1780" dirty="0" smtClean="0"/>
            </a:br>
            <a:r>
              <a:rPr lang="en-US" altLang="en-US" sz="1780" dirty="0" smtClean="0"/>
              <a:t>- Exploratory Data Analysis (EDA)</a:t>
            </a:r>
            <a:br>
              <a:rPr lang="en-US" altLang="en-US" sz="1780" dirty="0" smtClean="0"/>
            </a:br>
            <a:r>
              <a:rPr lang="en-US" altLang="en-US" sz="1780" dirty="0" smtClean="0"/>
              <a:t>- Univariate, bivariate, and multivariate analysis</a:t>
            </a:r>
            <a:br>
              <a:rPr lang="en-US" altLang="en-US" sz="1780" dirty="0" smtClean="0"/>
            </a:br>
            <a:r>
              <a:rPr lang="en-US" altLang="en-US" sz="1780" dirty="0" smtClean="0"/>
              <a:t>- Statistical analysis and correlation assessment</a:t>
            </a:r>
            <a:br>
              <a:rPr lang="en-US" altLang="en-US" sz="1780" dirty="0" smtClean="0"/>
            </a:br>
            <a:r>
              <a:rPr lang="en-US" altLang="en-US" sz="1780" dirty="0" smtClean="0"/>
              <a:t>- Data visualization and interpretation of findings</a:t>
            </a:r>
            <a:br>
              <a:rPr lang="en-US" altLang="en-US" sz="1780" dirty="0" smtClean="0"/>
            </a:br>
            <a:br>
              <a:rPr lang="en-US" altLang="en-US" sz="1780" dirty="0" smtClean="0"/>
            </a:br>
            <a:r>
              <a:rPr lang="en-US" altLang="en-US" sz="1780" dirty="0" smtClean="0"/>
              <a:t>The objective is to transform raw healthcare data into meaningful insights that support a better understanding of healthcare utilization patterns.</a:t>
            </a:r>
            <a:r>
              <a:rPr lang="en-GB" sz="1780" dirty="0" smtClean="0"/>
              <a:t> 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" y="6471920"/>
            <a:ext cx="3706495" cy="2959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21360" y="1563370"/>
            <a:ext cx="9187815" cy="3990340"/>
          </a:xfrm>
        </p:spPr>
        <p:txBody>
          <a:bodyPr>
            <a:normAutofit fontScale="25000"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5600" b="1" dirty="0"/>
              <a:t>- Healthcare Administrators: To understand healthcare utilization patterns across population groups.</a:t>
            </a:r>
            <a:endParaRPr lang="en-US" altLang="en-US" sz="5600" b="1" dirty="0"/>
          </a:p>
          <a:p>
            <a:pPr algn="just">
              <a:lnSpc>
                <a:spcPct val="150000"/>
              </a:lnSpc>
            </a:pPr>
            <a:r>
              <a:rPr lang="en-US" altLang="en-US" sz="5600" b="1" dirty="0"/>
              <a:t>- Healthcare Researchers: To explore relationships between health conditions and doctor visits.</a:t>
            </a:r>
            <a:endParaRPr lang="en-US" altLang="en-US" sz="5600" b="1" dirty="0"/>
          </a:p>
          <a:p>
            <a:pPr algn="just">
              <a:lnSpc>
                <a:spcPct val="150000"/>
              </a:lnSpc>
            </a:pPr>
            <a:r>
              <a:rPr lang="en-US" altLang="en-US" sz="5600" b="1" dirty="0"/>
              <a:t>- Public Health Analysts: To examine differences in healthcare utilization and access.</a:t>
            </a:r>
            <a:endParaRPr lang="en-US" altLang="en-US" sz="5600" b="1" dirty="0"/>
          </a:p>
          <a:p>
            <a:pPr algn="just">
              <a:lnSpc>
                <a:spcPct val="150000"/>
              </a:lnSpc>
            </a:pPr>
            <a:r>
              <a:rPr lang="en-US" altLang="en-US" sz="5600" b="1" dirty="0"/>
              <a:t>- Healthcare Policy Planners: To support data-informed discussions about healthcare services.</a:t>
            </a:r>
            <a:endParaRPr lang="en-US" altLang="en-US" sz="5600" b="1" dirty="0"/>
          </a:p>
          <a:p>
            <a:pPr algn="just">
              <a:lnSpc>
                <a:spcPct val="150000"/>
              </a:lnSpc>
            </a:pPr>
            <a:r>
              <a:rPr lang="en-US" altLang="en-US" sz="5600" b="1" dirty="0"/>
              <a:t>- Data Analysts and Students: To study healthcare data using exploratory and statistical techniques.</a:t>
            </a:r>
            <a:endParaRPr lang="en-US" altLang="en-US" sz="5600" b="1" dirty="0"/>
          </a:p>
          <a:p>
            <a:pPr algn="just">
              <a:lnSpc>
                <a:spcPct val="150000"/>
              </a:lnSpc>
            </a:pPr>
            <a:r>
              <a:rPr lang="en-US" altLang="en-US" sz="5600" b="1" dirty="0"/>
              <a:t>Potential Application:Supporting evidence-based healthcare analysis and further research.</a:t>
            </a:r>
            <a:endParaRPr lang="en-US" altLang="en-US" sz="5600" b="1" dirty="0"/>
          </a:p>
          <a:p>
            <a:pPr algn="just">
              <a:lnSpc>
                <a:spcPct val="150000"/>
              </a:lnSpc>
            </a:pPr>
            <a:r>
              <a:rPr lang="en-US" altLang="en-US" sz="5600" b="1" dirty="0"/>
              <a:t>*Note: These are potential users of the analysis, not confirmed users of the project.*</a:t>
            </a:r>
            <a:endParaRPr lang="en-US" altLang="en-US" sz="5600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4000" dirty="0"/>
              <a:t>WHO ARE THE END USERS?</a:t>
            </a:r>
            <a:endParaRPr lang="en-US" sz="4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>
            <a:normAutofit fontScale="60000"/>
          </a:bodyPr>
          <a:lstStyle/>
          <a:p>
            <a:pPr lvl="1">
              <a:lnSpc>
                <a:spcPct val="150000"/>
              </a:lnSpc>
            </a:pPr>
            <a:r>
              <a:rPr lang="en-US" altLang="en-US" sz="4000" b="1" dirty="0"/>
              <a:t>Language</a:t>
            </a:r>
            <a:r>
              <a:rPr lang="en-US" altLang="en-US" sz="4000" dirty="0"/>
              <a:t>: Python</a:t>
            </a:r>
            <a:endParaRPr lang="en-US" altLang="en-US" sz="4000" dirty="0"/>
          </a:p>
          <a:p>
            <a:pPr lvl="1">
              <a:lnSpc>
                <a:spcPct val="150000"/>
              </a:lnSpc>
            </a:pPr>
            <a:r>
              <a:rPr lang="en-US" altLang="en-US" sz="4000" b="1" dirty="0"/>
              <a:t>latform</a:t>
            </a:r>
            <a:r>
              <a:rPr lang="en-US" altLang="en-US" sz="4000" dirty="0"/>
              <a:t>: Google Colab</a:t>
            </a:r>
            <a:endParaRPr lang="en-US" altLang="en-US" sz="4000" dirty="0"/>
          </a:p>
          <a:p>
            <a:pPr lvl="1">
              <a:lnSpc>
                <a:spcPct val="150000"/>
              </a:lnSpc>
            </a:pPr>
            <a:r>
              <a:rPr lang="en-US" altLang="en-US" sz="4000" b="1" dirty="0"/>
              <a:t>Librarie</a:t>
            </a:r>
            <a:r>
              <a:rPr lang="en-US" altLang="en-US" sz="4000" dirty="0"/>
              <a:t>s: Pandas, NumPy, SciPy</a:t>
            </a:r>
            <a:endParaRPr lang="en-US" altLang="en-US" sz="4000" dirty="0"/>
          </a:p>
          <a:p>
            <a:pPr lvl="1">
              <a:lnSpc>
                <a:spcPct val="150000"/>
              </a:lnSpc>
            </a:pPr>
            <a:r>
              <a:rPr lang="en-US" altLang="en-US" sz="4000" b="1" dirty="0"/>
              <a:t>Visualization</a:t>
            </a:r>
            <a:r>
              <a:rPr lang="en-US" altLang="en-US" sz="4000" dirty="0"/>
              <a:t>: Matplotlib, Seaborn</a:t>
            </a:r>
            <a:endParaRPr lang="en-US" altLang="en-US" sz="4000" dirty="0"/>
          </a:p>
          <a:p>
            <a:pPr lvl="1">
              <a:lnSpc>
                <a:spcPct val="150000"/>
              </a:lnSpc>
            </a:pPr>
            <a:r>
              <a:rPr lang="en-US" altLang="en-US" sz="4000" b="1" dirty="0"/>
              <a:t>Techniques</a:t>
            </a:r>
            <a:r>
              <a:rPr lang="en-US" altLang="en-US" sz="4000" dirty="0"/>
              <a:t>: Data Cleaning, EDA, Statistical Analysis, Correlation Analysis, Data Aggregation</a:t>
            </a:r>
            <a:endParaRPr lang="en-US" altLang="en-US" sz="4000" dirty="0"/>
          </a:p>
          <a:p>
            <a:pPr lvl="1">
              <a:lnSpc>
                <a:spcPct val="150000"/>
              </a:lnSpc>
            </a:pPr>
            <a:r>
              <a:rPr lang="en-US" altLang="en-US" sz="4000" b="1" dirty="0"/>
              <a:t>Datase</a:t>
            </a:r>
            <a:r>
              <a:rPr lang="en-US" altLang="en-US" sz="4000" dirty="0"/>
              <a:t>t: Healthcare Analytics for Doctor Visits (CSV)</a:t>
            </a:r>
            <a:endParaRPr lang="en-US" altLang="en-US" sz="4000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/>
          <p:cNvSpPr txBox="1"/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2" action="ppaction://hlinkfile"/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85" y="1431925"/>
            <a:ext cx="10187305" cy="4588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/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  <a:endParaRPr lang="en-US" dirty="0"/>
          </a:p>
        </p:txBody>
      </p:sp>
      <p:sp>
        <p:nvSpPr>
          <p:cNvPr id="17" name="Text Placeholder 28"/>
          <p:cNvSpPr txBox="1"/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/>
          <p:cNvSpPr txBox="1"/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/>
          <p:cNvSpPr txBox="1"/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/>
          <p:cNvSpPr txBox="1"/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/>
          <p:cNvSpPr txBox="1"/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  <a:endParaRPr lang="en-GB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18" name="Picture Placeholder 17"/>
          <p:cNvPicPr>
            <a:picLocks noChangeAspect="1"/>
          </p:cNvPicPr>
          <p:nvPr>
            <p:ph type="pic" sz="quarter" idx="22"/>
          </p:nvPr>
        </p:nvPicPr>
        <p:blipFill>
          <a:blip r:embed="rId2"/>
          <a:stretch>
            <a:fillRect/>
          </a:stretch>
        </p:blipFill>
        <p:spPr>
          <a:xfrm>
            <a:off x="1076960" y="765175"/>
            <a:ext cx="9288145" cy="5327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/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  <a:endParaRPr lang="en-US" dirty="0"/>
          </a:p>
        </p:txBody>
      </p:sp>
      <p:sp>
        <p:nvSpPr>
          <p:cNvPr id="17" name="Text Placeholder 28"/>
          <p:cNvSpPr txBox="1"/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/>
          <p:cNvSpPr txBox="1"/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/>
          <p:cNvSpPr txBox="1"/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/>
          <p:cNvSpPr txBox="1"/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/>
          <p:cNvSpPr txBox="1"/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  <a:endParaRPr lang="en-GB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40" y="1087120"/>
            <a:ext cx="10605770" cy="4663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/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  <a:endParaRPr lang="en-US" dirty="0"/>
          </a:p>
        </p:txBody>
      </p:sp>
      <p:sp>
        <p:nvSpPr>
          <p:cNvPr id="17" name="Text Placeholder 28"/>
          <p:cNvSpPr txBox="1"/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/>
          <p:cNvSpPr txBox="1"/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/>
          <p:cNvSpPr txBox="1"/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/>
          <p:cNvSpPr txBox="1"/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/>
          <p:cNvSpPr txBox="1"/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  <a:endParaRPr lang="en-GB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537845"/>
            <a:ext cx="8761730" cy="5764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/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  <a:endParaRPr lang="en-US" dirty="0"/>
          </a:p>
        </p:txBody>
      </p:sp>
      <p:sp>
        <p:nvSpPr>
          <p:cNvPr id="17" name="Text Placeholder 28"/>
          <p:cNvSpPr txBox="1"/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/>
          <p:cNvSpPr txBox="1"/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/>
          <p:cNvSpPr txBox="1"/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/>
          <p:cNvSpPr txBox="1"/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/>
          <p:cNvSpPr txBox="1"/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  <a:endParaRPr lang="en-GB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420" y="581660"/>
            <a:ext cx="8187055" cy="5721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/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  <a:endParaRPr lang="en-US" dirty="0"/>
          </a:p>
        </p:txBody>
      </p:sp>
      <p:sp>
        <p:nvSpPr>
          <p:cNvPr id="17" name="Text Placeholder 28"/>
          <p:cNvSpPr txBox="1"/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/>
          <p:cNvSpPr txBox="1"/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/>
          <p:cNvSpPr txBox="1"/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/>
          <p:cNvSpPr txBox="1"/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/>
          <p:cNvSpPr txBox="1"/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  <a:endParaRPr lang="en-GB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1519555" y="1994535"/>
            <a:ext cx="8865235" cy="2964815"/>
          </a:xfrm>
        </p:spPr>
        <p:txBody>
          <a:bodyPr>
            <a:normAutofit/>
          </a:bodyPr>
          <a:lstStyle/>
          <a:p>
            <a:r>
              <a:rPr altLang="en-IN" sz="2800" dirty="0">
                <a:solidFill>
                  <a:srgbClr val="FF0000"/>
                </a:solidFill>
              </a:rPr>
              <a:t>GITHUB LINK: </a:t>
            </a:r>
            <a:r>
              <a:rPr lang="en-US" altLang="en-US" sz="2800" dirty="0"/>
              <a:t>https://github.com/harshkumar688/MAJOR-PROJECT-VOIS.git</a:t>
            </a:r>
            <a:r>
              <a:rPr altLang="en-IN" sz="2800" dirty="0"/>
              <a:t> </a:t>
            </a:r>
            <a:endParaRPr alt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282775" y="2926080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rgbClr val="FF0000"/>
                </a:solidFill>
              </a:rPr>
              <a:t>T</a:t>
            </a:r>
            <a:r>
              <a:rPr lang="en-US" sz="4800" b="1" dirty="0" smtClean="0">
                <a:solidFill>
                  <a:schemeClr val="tx1"/>
                </a:solidFill>
              </a:rPr>
              <a:t>hank </a:t>
            </a:r>
            <a:r>
              <a:rPr lang="en-US" sz="4800" b="1" dirty="0" smtClean="0">
                <a:solidFill>
                  <a:srgbClr val="FF0000"/>
                </a:solidFill>
              </a:rPr>
              <a:t>y</a:t>
            </a:r>
            <a:r>
              <a:rPr lang="en-US" sz="4800" b="1" dirty="0" smtClean="0">
                <a:solidFill>
                  <a:schemeClr val="tx1"/>
                </a:solidFill>
              </a:rPr>
              <a:t>ouuu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  <a:endParaRPr lang="en-US" dirty="0"/>
          </a:p>
        </p:txBody>
      </p:sp>
      <p:sp>
        <p:nvSpPr>
          <p:cNvPr id="17" name="Text Placeholder 28"/>
          <p:cNvSpPr txBox="1"/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/>
          <p:cNvSpPr txBox="1"/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/>
          <p:cNvSpPr txBox="1"/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/>
          <p:cNvSpPr txBox="1"/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/>
          <p:cNvSpPr txBox="1"/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  <a:endParaRPr lang="en-GB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/>
</ds:datastoreItem>
</file>

<file path=customXml/itemProps2.xml><?xml version="1.0" encoding="utf-8"?>
<ds:datastoreItem xmlns:ds="http://schemas.openxmlformats.org/officeDocument/2006/customXml" ds:itemID="{05D99ABA-76CE-4A8E-B5F0-C051B96628DE}">
  <ds:schemaRefs/>
</ds:datastoreItem>
</file>

<file path=customXml/itemProps3.xml><?xml version="1.0" encoding="utf-8"?>
<ds:datastoreItem xmlns:ds="http://schemas.openxmlformats.org/officeDocument/2006/customXml" ds:itemID="{4DEA9014-ED64-4558-B1E1-D03F0EE32BE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2539</Words>
  <Application>WPS Presentation</Application>
  <PresentationFormat>Widescreen</PresentationFormat>
  <Paragraphs>64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Wingdings 3</vt:lpstr>
      <vt:lpstr>Arial</vt:lpstr>
      <vt:lpstr>Calibri</vt:lpstr>
      <vt:lpstr>Trebuchet MS</vt:lpstr>
      <vt:lpstr>Microsoft YaHei</vt:lpstr>
      <vt:lpstr>Arial Unicode MS</vt:lpstr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Thank you</vt:lpstr>
      <vt:lpstr>Thank you</vt:lpstr>
      <vt:lpstr>Thank you</vt:lpstr>
      <vt:lpstr>Thank you</vt:lpstr>
      <vt:lpstr>Thank you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harsh</cp:lastModifiedBy>
  <cp:revision>76</cp:revision>
  <dcterms:created xsi:type="dcterms:W3CDTF">2021-07-11T13:13:00Z</dcterms:created>
  <dcterms:modified xsi:type="dcterms:W3CDTF">2026-10-22T17:35:18Z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KSOProductBuildVer">
    <vt:lpwstr>1033-12.1.0.29162</vt:lpwstr>
  </property>
  <property fmtid="{D5CDD505-2E9C-101B-9397-08002B2CF9AE}" pid="4" name="ICV">
    <vt:lpwstr>BE63E44127984BBAAB13524A17CD2941_13</vt:lpwstr>
  </property>
</Properties>
</file>